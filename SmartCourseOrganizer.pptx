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9" r:id="rId2"/>
  </p:sldMasterIdLst>
  <p:notesMasterIdLst>
    <p:notesMasterId r:id="rId19"/>
  </p:notesMasterIdLst>
  <p:sldIdLst>
    <p:sldId id="274" r:id="rId3"/>
    <p:sldId id="258" r:id="rId4"/>
    <p:sldId id="273" r:id="rId5"/>
    <p:sldId id="275" r:id="rId6"/>
    <p:sldId id="259" r:id="rId7"/>
    <p:sldId id="260" r:id="rId8"/>
    <p:sldId id="261" r:id="rId9"/>
    <p:sldId id="262" r:id="rId10"/>
    <p:sldId id="276" r:id="rId11"/>
    <p:sldId id="264" r:id="rId12"/>
    <p:sldId id="265" r:id="rId13"/>
    <p:sldId id="266" r:id="rId14"/>
    <p:sldId id="267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58" y="21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7CFE0-6F03-0A48-83D1-FEF62939873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B0846-FBF1-A944-8A0B-668141115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7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620"/>
            <a:ext cx="8229600" cy="1049274"/>
          </a:xfrm>
          <a:prstGeom prst="rect">
            <a:avLst/>
          </a:prstGeom>
        </p:spPr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1828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1828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3600" cy="226314"/>
          </a:xfrm>
          <a:prstGeom prst="rect">
            <a:avLst/>
          </a:prstGeo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0056" cy="22631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4860727"/>
            <a:ext cx="502920" cy="226314"/>
          </a:xfrm>
          <a:prstGeom prst="rect">
            <a:avLst/>
          </a:prstGeom>
        </p:spPr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790972" y="3778934"/>
            <a:ext cx="1419712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582216"/>
            <a:ext cx="8062912" cy="1102519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1687710"/>
            <a:ext cx="8062912" cy="131445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4509492"/>
            <a:ext cx="5791200" cy="273844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4238028"/>
            <a:ext cx="5791200" cy="273844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4314231"/>
            <a:ext cx="502920" cy="273844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620"/>
            <a:ext cx="8229600" cy="104927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106"/>
            <a:ext cx="8229600" cy="3429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4860036"/>
            <a:ext cx="2133600" cy="226314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0056" cy="2256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5276"/>
            <a:ext cx="9129932" cy="5127674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790972" y="70339"/>
            <a:ext cx="1419712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4857750"/>
            <a:ext cx="2133600" cy="228600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4860727"/>
            <a:ext cx="4260056" cy="2256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607219"/>
            <a:ext cx="502920" cy="225623"/>
          </a:xfrm>
        </p:spPr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5" y="7036"/>
            <a:ext cx="2672861" cy="142515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5276"/>
            <a:ext cx="9136966" cy="513295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3599"/>
            <a:ext cx="7239000" cy="1021556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5152"/>
            <a:ext cx="3886200" cy="17145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1828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1828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3600" cy="226314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0056" cy="22631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4860727"/>
            <a:ext cx="502920" cy="226314"/>
          </a:xfrm>
        </p:spPr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18049"/>
            <a:ext cx="1066800" cy="4615434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18049"/>
            <a:ext cx="581024" cy="22631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2570343"/>
            <a:ext cx="581024" cy="22631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18049"/>
            <a:ext cx="6858000" cy="226314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2570343"/>
            <a:ext cx="6858000" cy="22631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0552" cy="226314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4860727"/>
            <a:ext cx="4261104" cy="22631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4862322"/>
            <a:ext cx="502920" cy="226314"/>
          </a:xfrm>
        </p:spPr>
        <p:txBody>
          <a:bodyPr/>
          <a:lstStyle>
            <a:lvl1pPr algn="ctr">
              <a:defRPr/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4860727"/>
            <a:ext cx="2133600" cy="226314"/>
          </a:xfrm>
        </p:spPr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4861418"/>
            <a:ext cx="4260056" cy="22562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4860727"/>
            <a:ext cx="502920" cy="226314"/>
          </a:xfrm>
        </p:spPr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275748"/>
            <a:ext cx="914400" cy="44577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275748"/>
            <a:ext cx="2438400" cy="44577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240030"/>
            <a:ext cx="5276088" cy="449199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4917186"/>
            <a:ext cx="2133600" cy="226314"/>
          </a:xfrm>
        </p:spPr>
        <p:txBody>
          <a:bodyPr/>
          <a:lstStyle>
            <a:lvl1pPr>
              <a:defRPr sz="900"/>
            </a:lvl1pPr>
          </a:lstStyle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4917186"/>
            <a:ext cx="5143120" cy="226314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4917186"/>
            <a:ext cx="502920" cy="226314"/>
          </a:xfrm>
        </p:spPr>
        <p:txBody>
          <a:bodyPr/>
          <a:lstStyle>
            <a:lvl1pPr>
              <a:defRPr sz="900"/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13172"/>
            <a:ext cx="914400" cy="48006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280475"/>
            <a:ext cx="7333488" cy="41148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4400550"/>
            <a:ext cx="7333488" cy="51435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4917186"/>
            <a:ext cx="2103120" cy="226314"/>
          </a:xfrm>
        </p:spPr>
        <p:txBody>
          <a:bodyPr/>
          <a:lstStyle>
            <a:lvl1pPr>
              <a:defRPr sz="900"/>
            </a:lvl1pPr>
          </a:lstStyle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4917877"/>
            <a:ext cx="4948072" cy="226314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4917186"/>
            <a:ext cx="365760" cy="226314"/>
          </a:xfrm>
        </p:spPr>
        <p:txBody>
          <a:bodyPr/>
          <a:lstStyle>
            <a:lvl1pPr algn="ctr">
              <a:defRPr sz="900"/>
            </a:lvl1pPr>
          </a:lstStyle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85750"/>
            <a:ext cx="1905000" cy="41148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85750"/>
            <a:ext cx="6248400" cy="41148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0552"/>
            <a:ext cx="9129932" cy="5127674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5276"/>
            <a:ext cx="9136966" cy="513295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5" y="3711307"/>
            <a:ext cx="2672861" cy="142515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00620"/>
            <a:ext cx="8229600" cy="104927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412106"/>
            <a:ext cx="8229600" cy="3429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4860727"/>
            <a:ext cx="2133600" cy="22631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0106B4A3-4212-4E39-93DE-E053E8F69C28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4861418"/>
            <a:ext cx="4260056" cy="225623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4860727"/>
            <a:ext cx="502920" cy="226314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3DCDF73-85D2-4237-9B32-053DBDB0C312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397" y="369393"/>
            <a:ext cx="7957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800" dirty="0" smtClean="0">
                <a:latin typeface="Britannic Bold" pitchFamily="34" charset="0"/>
              </a:rPr>
              <a:t>           </a:t>
            </a:r>
            <a:r>
              <a:rPr lang="en-IN" sz="4800" dirty="0" err="1" smtClean="0">
                <a:latin typeface="Britannic Bold" pitchFamily="34" charset="0"/>
              </a:rPr>
              <a:t>NexusThree</a:t>
            </a:r>
            <a:endParaRPr lang="en-IN" sz="4800" dirty="0">
              <a:latin typeface="Britannic Bold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57107" y="1489685"/>
            <a:ext cx="4699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>
                <a:latin typeface="Britannic Bold" pitchFamily="34" charset="0"/>
              </a:rPr>
              <a:t>Team Members:</a:t>
            </a:r>
          </a:p>
          <a:p>
            <a:r>
              <a:rPr lang="en-IN" sz="2400" dirty="0">
                <a:latin typeface="Britannic Bold" pitchFamily="34" charset="0"/>
              </a:rPr>
              <a:t>	</a:t>
            </a:r>
            <a:r>
              <a:rPr lang="en-IN" sz="2400" dirty="0" smtClean="0">
                <a:latin typeface="Britannic Bold" pitchFamily="34" charset="0"/>
              </a:rPr>
              <a:t>PRIYADARSHAN. S P </a:t>
            </a:r>
          </a:p>
          <a:p>
            <a:r>
              <a:rPr lang="en-IN" sz="2400" dirty="0">
                <a:latin typeface="Britannic Bold" pitchFamily="34" charset="0"/>
              </a:rPr>
              <a:t>	</a:t>
            </a:r>
            <a:r>
              <a:rPr lang="en-IN" sz="2400" dirty="0" smtClean="0">
                <a:latin typeface="Britannic Bold" pitchFamily="34" charset="0"/>
              </a:rPr>
              <a:t>NITHISH. N</a:t>
            </a:r>
          </a:p>
          <a:p>
            <a:r>
              <a:rPr lang="en-IN" sz="2400" dirty="0">
                <a:latin typeface="Britannic Bold" pitchFamily="34" charset="0"/>
              </a:rPr>
              <a:t>	</a:t>
            </a:r>
            <a:r>
              <a:rPr lang="en-IN" sz="2400" dirty="0" smtClean="0">
                <a:latin typeface="Britannic Bold" pitchFamily="34" charset="0"/>
              </a:rPr>
              <a:t>SUPRAJETH. S S</a:t>
            </a:r>
            <a:endParaRPr lang="en-IN" sz="2400" dirty="0">
              <a:latin typeface="Britannic Bold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2531" y="3168345"/>
            <a:ext cx="7975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 smtClean="0">
                <a:latin typeface="Britannic Bold" pitchFamily="34" charset="0"/>
              </a:rPr>
              <a:t>SMART COURSE ORGANIZER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42" y="3996715"/>
            <a:ext cx="7975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Britannic Bold" pitchFamily="34" charset="0"/>
              </a:rPr>
              <a:t>Problem Statement : “</a:t>
            </a:r>
            <a:r>
              <a:rPr lang="en-US" dirty="0" smtClean="0">
                <a:latin typeface="Britannic Bold" pitchFamily="34" charset="0"/>
              </a:rPr>
              <a:t>Learners </a:t>
            </a:r>
            <a:r>
              <a:rPr lang="en-US" dirty="0">
                <a:latin typeface="Britannic Bold" pitchFamily="34" charset="0"/>
              </a:rPr>
              <a:t>and instructors lack a centralized platform to store course materials, track progress, and get AI </a:t>
            </a:r>
            <a:r>
              <a:rPr lang="en-US" dirty="0" smtClean="0">
                <a:latin typeface="Britannic Bold" pitchFamily="34" charset="0"/>
              </a:rPr>
              <a:t>help.”</a:t>
            </a:r>
            <a:endParaRPr lang="en-US" dirty="0">
              <a:latin typeface="Britannic Bold" pitchFamily="34" charset="0"/>
            </a:endParaRPr>
          </a:p>
          <a:p>
            <a:endParaRPr lang="en-IN" dirty="0">
              <a:latin typeface="Britann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1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91440" cy="16002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33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Scattered </a:t>
            </a: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store materials in multiple apps, folders, and drives — hard to find.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96012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60120"/>
            <a:ext cx="91440" cy="16002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33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 </a:t>
            </a: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43560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to store all course materials in one place.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34640"/>
            <a:ext cx="91440" cy="16002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 </a:t>
            </a: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101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easily monitor how much they've studied or covered.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8346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834640"/>
            <a:ext cx="91440" cy="16002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9077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Lack </a:t>
            </a: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Guidance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31012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assistant to help users find resources or answer questions.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046720" cy="4370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                                             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Menu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 Menu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Menu</a:t>
            </a:r>
            <a:endParaRPr lang="en-US" sz="1600" dirty="0" smtClean="0">
              <a:solidFill>
                <a:srgbClr val="0F26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600" dirty="0" err="1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600" dirty="0" smtClean="0">
              <a:solidFill>
                <a:srgbClr val="0F26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600" dirty="0" smtClean="0">
              <a:solidFill>
                <a:srgbClr val="0F26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129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80467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platform designed to simplify how students manage study materials.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users to upload, organize, and access course content from any device at any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personal dashboard to track learning progress and stay on top of studies.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 AI chatbot to help users navigate the system and answer questions.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students who want a smarter, more organized way to study.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64858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80467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unified web platform for uploading and accessing study materials easily.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stay organized by categorizing materials by subject or topic.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visual dashboard to track study progress and completion status.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AI chatbot to assist users with queries and navigation.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24/7 accessibility so students can learn at their own pace, from anywhere.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783080" cy="1280160"/>
          </a:xfrm>
          <a:prstGeom prst="rect">
            <a:avLst/>
          </a:prstGeom>
          <a:solidFill>
            <a:srgbClr val="0D9E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1600200"/>
            <a:ext cx="320040" cy="2743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097280"/>
            <a:ext cx="1783080" cy="128016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097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20040" cy="2743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097280"/>
            <a:ext cx="1783080" cy="1280160"/>
          </a:xfrm>
          <a:prstGeom prst="rect">
            <a:avLst/>
          </a:prstGeom>
          <a:solidFill>
            <a:srgbClr val="0A7A6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97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37960" y="1600200"/>
            <a:ext cx="320040" cy="2743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1097280"/>
            <a:ext cx="1783080" cy="128016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0972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web system with three core menus: Upload, All Materials, and Dashboard.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so each student sees only their own materials and progress.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for real-time assistance, reducing dependency on external support.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intuitive UI designed for students with minimal technical knowledge.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7711" y="112471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1247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09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docs, and notes quickly.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3435" y="112471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1247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Library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709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search all stored materials.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12471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12471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 to track study progress.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3775" y="304495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0449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63016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assistant for help and navigation.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3435" y="304495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30449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63016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accounts with data privacy.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98075" y="3044952"/>
            <a:ext cx="502920" cy="502920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304495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63016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desktop, tablet, and mobile.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914400"/>
          </a:xfrm>
          <a:prstGeom prst="rect">
            <a:avLst/>
          </a:prstGeom>
          <a:solidFill>
            <a:srgbClr val="0D9E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05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24128"/>
            <a:ext cx="18288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005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 / React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274320" cy="32004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2240280"/>
            <a:ext cx="6400800" cy="9144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240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(Server)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258568"/>
            <a:ext cx="18288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240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3154680"/>
            <a:ext cx="274320" cy="32004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0" y="3493008"/>
            <a:ext cx="18288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1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Presentation → Logic →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module is integrated into the backend layer.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Overview: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9735"/>
            <a:ext cx="8087293" cy="3681824"/>
          </a:xfrm>
        </p:spPr>
      </p:pic>
    </p:spTree>
    <p:extLst>
      <p:ext uri="{BB962C8B-B14F-4D97-AF65-F5344CB8AC3E}">
        <p14:creationId xmlns:p14="http://schemas.microsoft.com/office/powerpoint/2010/main" val="309530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Menu — Detailed 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upload files such as PDFs, Word documents, images, and presentation slides.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add a title, subject name, and description for each uploaded file.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interface for quick and easy file selection.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automatically categorized and saved to the user's personal library.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history is maintained so users can track what was added and when.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6012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9601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📤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2286000" cy="411480"/>
          </a:xfrm>
          <a:prstGeom prst="rect">
            <a:avLst/>
          </a:prstGeom>
          <a:solidFill>
            <a:srgbClr val="D4F5F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194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286000" cy="34747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743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Subject </a:t>
            </a: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286000" cy="347472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2103120" cy="41148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Materials Menu — Detailed 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complete list of all study materials uploaded by the user.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options to quickly find materials by subject or file type.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for any stored file to access offline.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option for PDFs and images directly within the browser.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 update materials to keep the library clean and up to date.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6012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</a:t>
            </a: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2651760" cy="621792"/>
          </a:xfrm>
          <a:prstGeom prst="rect">
            <a:avLst/>
          </a:prstGeom>
          <a:solidFill>
            <a:srgbClr val="F0F8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5361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</a:t>
            </a:r>
            <a:r>
              <a:rPr lang="en-US" sz="11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Math_Notes.pdf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828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Download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2258568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11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Physics_Slides.pptx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578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Download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3008376"/>
            <a:ext cx="2651760" cy="621792"/>
          </a:xfrm>
          <a:prstGeom prst="rect">
            <a:avLst/>
          </a:prstGeom>
          <a:solidFill>
            <a:srgbClr val="F0F8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r>
              <a:rPr lang="en-US" sz="11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History_Essay.docx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Download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3758184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7856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</a:t>
            </a:r>
            <a:r>
              <a:rPr lang="en-US" sz="11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Bio_Diagram.png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40782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Download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Menu — Detailed 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summary of total files uploaded, subjects covered, and recent activity.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and pie charts to visualize study completion per subject.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tracker to motivate daily study habits.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 to recently accessed materials for faster navigation.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updates automatically as the user uploads or accesses materials.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0" y="96012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300" b="1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822960" cy="7315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508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504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0" y="1508760"/>
            <a:ext cx="822960" cy="7315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508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4944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63840" y="1508760"/>
            <a:ext cx="822960" cy="73152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0" y="1508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63840" y="1965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Streak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2514600"/>
            <a:ext cx="1691640" cy="201168"/>
          </a:xfrm>
          <a:prstGeom prst="rect">
            <a:avLst/>
          </a:prstGeom>
          <a:solidFill>
            <a:srgbClr val="E0EA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2514600"/>
            <a:ext cx="1426464" cy="201168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127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172968"/>
            <a:ext cx="1691640" cy="201168"/>
          </a:xfrm>
          <a:prstGeom prst="rect">
            <a:avLst/>
          </a:prstGeom>
          <a:solidFill>
            <a:srgbClr val="E0EA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3172968"/>
            <a:ext cx="1069848" cy="201168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785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3831336"/>
            <a:ext cx="1691640" cy="201168"/>
          </a:xfrm>
          <a:prstGeom prst="rect">
            <a:avLst/>
          </a:prstGeom>
          <a:solidFill>
            <a:srgbClr val="E0EAF0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3831336"/>
            <a:ext cx="1664208" cy="201168"/>
          </a:xfrm>
          <a:prstGeom prst="rect">
            <a:avLst/>
          </a:prstGeom>
          <a:solidFill>
            <a:srgbClr val="0D9E8E"/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— Features &amp; Benefits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5963" y="1105395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0332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3807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user queries about the system in real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5963" y="2093976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939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Help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591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find specific materials using natural language.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916936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5963" y="3072384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72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2990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Guide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337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to the right menu or feature quickly.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95344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5963" y="4059936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9684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3159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tips, topics, or materials based on user activity.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80467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 — </a:t>
            </a: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in one secure, accessible location.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Anytime, anywhere access — </a:t>
            </a: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</a:t>
            </a: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device without transferring files.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organization — </a:t>
            </a: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messy folders or lost notes.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tracking — </a:t>
            </a: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</a:t>
            </a: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motivated with clear goal visibility.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— </a:t>
            </a:r>
            <a:r>
              <a:rPr lang="en-US" sz="1600" dirty="0" smtClean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</a:t>
            </a:r>
            <a:r>
              <a:rPr lang="en-US" sz="1600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without waiting for a teacher or peer.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6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457200" cy="44577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73152" cy="82296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7" name="Shape 5"/>
          <p:cNvSpPr/>
          <p:nvPr/>
        </p:nvSpPr>
        <p:spPr>
          <a:xfrm>
            <a:off x="889572" y="1115568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033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380744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 students about upcoming exams or study goals.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938528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38528"/>
            <a:ext cx="73152" cy="82296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572" y="2103120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0939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011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359152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group material sharing and peer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916936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16936"/>
            <a:ext cx="73152" cy="82296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19" name="Shape 17"/>
          <p:cNvSpPr/>
          <p:nvPr/>
        </p:nvSpPr>
        <p:spPr>
          <a:xfrm>
            <a:off x="889572" y="3081528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0723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2990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337560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regional languages for wider accessibility.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895344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895344"/>
            <a:ext cx="73152" cy="82296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25" name="Shape 23"/>
          <p:cNvSpPr/>
          <p:nvPr/>
        </p:nvSpPr>
        <p:spPr>
          <a:xfrm>
            <a:off x="889572" y="4059936"/>
            <a:ext cx="512064" cy="512064"/>
          </a:xfrm>
          <a:prstGeom prst="ellipse">
            <a:avLst/>
          </a:prstGeom>
          <a:solidFill>
            <a:srgbClr val="0D9E8E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50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39684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315968"/>
            <a:ext cx="7040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iOS/Android app for on-the-go learning.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6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E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02D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Course Organizer solves a real student problem: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One place for all study materials — no more scattered files.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Progress dashboard to stay on track and motivated.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 chatbot for instant, intelligent assistance.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Simple, student-friendly design for everyday use.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500" i="1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empowers students to study smarter, not harder.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</a:t>
            </a:r>
            <a:r>
              <a:rPr lang="en-US" sz="1200" dirty="0" smtClean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Course Organizer  |  Organize. Upload. Learn.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erv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157</TotalTime>
  <Words>948</Words>
  <Application>Microsoft Office PowerPoint</Application>
  <PresentationFormat>On-screen Show (16:9)</PresentationFormat>
  <Paragraphs>182</Paragraphs>
  <Slides>16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Verve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Course Organizer</dc:title>
  <dc:subject>PptxGenJS Presentation</dc:subject>
  <dc:creator>PptxGenJS</dc:creator>
  <cp:lastModifiedBy>Admin</cp:lastModifiedBy>
  <cp:revision>11</cp:revision>
  <dcterms:created xsi:type="dcterms:W3CDTF">2026-04-01T06:41:39Z</dcterms:created>
  <dcterms:modified xsi:type="dcterms:W3CDTF">2026-04-01T09:23:49Z</dcterms:modified>
</cp:coreProperties>
</file>